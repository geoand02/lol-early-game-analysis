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3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GAME INDICATORS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PROFESSIONAL LEAGUE OF LEGENDS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114800" cy="36576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wins games in pro LoL?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Andreou  •  COMP-248 Project in Data Science  •  University of Nicosia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703320"/>
            <a:ext cx="20116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53,882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703320"/>
            <a:ext cx="20116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20116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3703320"/>
            <a:ext cx="20116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QUESTION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actually say?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AC8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" cy="1554480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280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early-game stats are most linked to winning?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502920" cy="1554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280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reliably do early indicators forecast match outcomes?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43200"/>
            <a:ext cx="502920" cy="1554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46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early-game importance change across seasons?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43200"/>
            <a:ext cx="502920" cy="155448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46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017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different regions show different patterns?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separate what actually matters from what people think matters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PROCESS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analyzed and how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AC8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Oracle's Elixir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dataset of every pro LoL 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1097280" cy="365760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83080" y="2286000"/>
            <a:ext cx="1097280" cy="3657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63240" y="2286000"/>
            <a:ext cx="109728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640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16152" y="3154680"/>
            <a:ext cx="640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6152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9384" y="3154680"/>
            <a:ext cx="640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9384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42616" y="3154680"/>
            <a:ext cx="640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42616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3154680"/>
            <a:ext cx="640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XP / CS diff @15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objectives (baron, herald, etc.)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length, side, patch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536192"/>
            <a:ext cx="54864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3776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XP, CS diff vs match outcome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084832"/>
            <a:ext cx="54864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Early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37760" y="2240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score from 5 binary indicators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633472"/>
            <a:ext cx="54864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Tables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37760" y="2788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lead × baron interaction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3182112"/>
            <a:ext cx="54864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Analysis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37760" y="3337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indicators fail to predict wins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730752"/>
            <a:ext cx="54864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Analysis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37760" y="3886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time erodes early advantages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279392"/>
            <a:ext cx="54864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Patch Drift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937760" y="4434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across seasons and metas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1 — OBJECTIVE HIERARCHY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Tower-based objectives outperform kill-based 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960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Inhibitor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417320"/>
            <a:ext cx="3745748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09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Baron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7099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801368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801368"/>
            <a:ext cx="3435949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93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3 Towers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0939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185416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185416"/>
            <a:ext cx="3138221" cy="182880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4780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Mid Tower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4780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2569464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569464"/>
            <a:ext cx="2937053" cy="182880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62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2862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2953512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953512"/>
            <a:ext cx="2776118" cy="182880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Herald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0" y="3337560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3337560"/>
            <a:ext cx="2494483" cy="182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30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Blood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3630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3721608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3721608"/>
            <a:ext cx="2414016" cy="182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142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Dragon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91840" y="40142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0" y="4105656"/>
            <a:ext cx="402336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4105656"/>
            <a:ext cx="2333549" cy="1828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(69-78%) consistently beat kills (60%) and dragons (58%)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2 — EARLY SCORE 0-5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scales near-linearly with early dominance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01752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AC8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0–5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5 early indicators: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Blood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Herald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Dragon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Lead @ 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 flips a team from underdog to favorite (39% → 61%)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960120"/>
            <a:ext cx="51206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143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0/5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33832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34440"/>
            <a:ext cx="463509" cy="2743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143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33832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828800"/>
            <a:ext cx="825520" cy="2743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2/5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33832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23160"/>
            <a:ext cx="1319479" cy="2743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3/5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33832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17520"/>
            <a:ext cx="2067184" cy="274320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926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61.1%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4/5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33832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611880"/>
            <a:ext cx="255776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5/5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663440" y="4206240"/>
            <a:ext cx="33832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4206240"/>
            <a:ext cx="2919771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4114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3 — THE GOLD LEAD PREMIUM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score, completely different outcomes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Score 3/5, which combination matters: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41148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+ Dragon + GOLD LEAD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4114800" cy="731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Tower + Herald (no gold lead)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33.7%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841248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017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LEAD AT 15 = +27 PERCENTAGE POINTS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universal premium — regardless of which other objectives are won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Blood adds: 0pp  •  First Herald: +3.7pp  •  First Tower: +11pp  •  First Dragon: +15.5pp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across all 5 regions (+44 to +59pp) and all 3 seasons studied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GOING DEEPER — SCORE 3/5 COMBOS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combinations sorted by win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+ Dragon + GOLD LEAD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07899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1078992"/>
            <a:ext cx="2267712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+ Herald + GOLD LEAD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44475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444752"/>
            <a:ext cx="2039478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+ Dragon + GOLD LEAD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81051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810512"/>
            <a:ext cx="2013143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Tower + GOLD LEAD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68.1%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217627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2176272"/>
            <a:ext cx="1992660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Dragon + GOLD LEAD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254203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2542032"/>
            <a:ext cx="1942917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Herald + GOLD LEAD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55.8%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60720" y="290779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907792"/>
            <a:ext cx="1632753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+ Herald + Dragon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60720" y="327355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3273552"/>
            <a:ext cx="1433779" cy="1828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Tower + Dragon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60720" y="363931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3639312"/>
            <a:ext cx="1316736" cy="1828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Herald + Dragon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60720" y="400507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4005072"/>
            <a:ext cx="1111910" cy="1828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Tower + Herald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760720" y="4370832"/>
            <a:ext cx="2926080" cy="182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4370832"/>
            <a:ext cx="986089" cy="1828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1A2332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combo WITH gold lead beats every combo WITHOUT — gold is the dividing 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4 — BARON IS THE CONVERSION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lead alone barely wins — baron closes the game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41148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24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+ Got Baron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91.9%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unbeatable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AC8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114800" cy="73152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24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+ Got Baron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70.7%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84632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Comeback tool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41148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62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+ No Baron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44.5%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above 50%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69748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697480"/>
            <a:ext cx="4114800" cy="731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862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+ No Baron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2004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8.6%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484632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unwinnable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Stealing baron while BEHIND swings win rate by +62pp (8.6% → 70.7%)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5 — TIME RESETS THE GAME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decays past 35 minutes — except inhibitor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LENGTH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960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960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960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960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960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0" y="960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1371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80960" y="1490472"/>
            <a:ext cx="100584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4904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1965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2084832"/>
            <a:ext cx="100584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0848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30-35min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1168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8912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80960" y="2679192"/>
            <a:ext cx="1005840" cy="2743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26791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154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35-40min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01168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9184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38912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80960" y="3273552"/>
            <a:ext cx="1005840" cy="2743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273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flip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40min+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01168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9184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38912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5836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680960" y="3867912"/>
            <a:ext cx="1005840" cy="2743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0" y="38679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inhibitor survives long games — the game effectively "resets" past 35 min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6 — BLUE SIDE ADVANTAGE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side wins 52.8% — driven by map asymmetry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554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52.8%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(+5.6pp advantage)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47.2%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dragon advantage (+16.6pp)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7889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ASYMMETRY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1546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wins:  First Herald (+18pp)  •  First Tower (+9pp)  •  Gold Lead (+7pp)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wins:  First Dragon (+16pp)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+ Tower control outweighs Dragon control — net advantage to Blue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 Western regions  •  LEC: +8.9pp  •  PCS: +8.7pp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neutralized in Korea/China  •  LCK: +2.9pp  •  LPL: +2.2pp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LCK/LPL drafting has learned to play around the side imbalance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STABILITY ACROSS TIME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hold across 3 seasons &amp; 65 patches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AC8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LEAD PREMIUM BY YEAR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54480" y="1572768"/>
            <a:ext cx="24688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1572768"/>
            <a:ext cx="2102663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+51.1pp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554480" y="2487168"/>
            <a:ext cx="24688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487168"/>
            <a:ext cx="1999793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+48.6pp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2918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554480" y="3401568"/>
            <a:ext cx="24688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401568"/>
            <a:ext cx="1880464" cy="2743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703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+45.7pp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decline (51→46pp) but the rule holds — Riot's anti-snowball changes had a modest effect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 IS PATCH-PROOF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417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~85%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480060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baron win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834640"/>
            <a:ext cx="3566160" cy="640080"/>
          </a:xfrm>
          <a:prstGeom prst="rect">
            <a:avLst/>
          </a:prstGeom>
          <a:solidFill>
            <a:srgbClr val="1A233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80% – 92%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65 patches studied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6576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jungle reworks, dragon soul, herald changes, item overhauls — baron's power is structural to the game, not a function of meta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TAKEAWAY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pro LoL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457200" cy="12801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Lead is 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463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+27pp universal premium at every score level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0AC8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457200" cy="1280160"/>
          </a:xfrm>
          <a:prstGeom prst="rect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1097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&gt; Kills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1463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objectives outperform first blood and dragon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60120"/>
            <a:ext cx="457200" cy="12801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1097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 is Patch-Proof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1463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win rate across all 65 patches studied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377440"/>
            <a:ext cx="457200" cy="12801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2514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Blood is Overrated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0pp when paired with a gold lead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237744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377440"/>
            <a:ext cx="457200" cy="128016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749040" y="2514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Resets the Game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inhibitor survives long games (72%)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237744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377440"/>
            <a:ext cx="45720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83680" y="2514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Matters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+5.6pp, biggest in West, neutralized in LCK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8412480" cy="1051560"/>
          </a:xfrm>
          <a:prstGeom prst="rect">
            <a:avLst/>
          </a:prstGeom>
          <a:solidFill>
            <a:srgbClr val="1A2332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" y="39319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C89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Andreou  •  COMP-248 Project in Data Science  •  University of Nicosia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LoL has clear, universal rules that hold across regions and seasons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George Andreou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Game Indicators in Professional LoL - Final Video</dc:title>
  <dc:subject>George Andreou Presentation</dc:subject>
  <dc:creator>George Andreou</dc:creator>
  <cp:lastModifiedBy>George Andreou</cp:lastModifiedBy>
  <cp:revision>1</cp:revision>
  <dcterms:created xsi:type="dcterms:W3CDTF">2026-05-21T14:44:29Z</dcterms:created>
  <dcterms:modified xsi:type="dcterms:W3CDTF">2026-05-21T14:44:29Z</dcterms:modified>
</cp:coreProperties>
</file>